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BB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8">
                <a:solidFill>
                  <a:srgbClr val="E8695D"/>
                </a:solidFill>
                <a:latin typeface="Consolas"/>
              </a:rPr>
              <a:t>LIVE</a:t>
            </a:r>
            <a:r>
              <a:rPr sz="1050" b="0" spc="18">
                <a:solidFill>
                  <a:srgbClr val="8F9084"/>
                </a:solidFill>
                <a:latin typeface="Consolas"/>
              </a:rPr>
              <a:t>  PODCAST RECORDING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789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F6F6EE"/>
                </a:solidFill>
                <a:latin typeface="Arial"/>
              </a:rPr>
              <a:t>Durability, IPOs,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F6F6EE"/>
                </a:solidFill>
                <a:latin typeface="Arial"/>
              </a:rPr>
              <a:t>and the Duopoly Myth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977639"/>
            <a:ext cx="9692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C6C5BA"/>
                </a:solidFill>
                <a:latin typeface="Arial"/>
              </a:rPr>
              <a:t>Three questions the AI market keeps asking, answered with the data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C6C5BA"/>
                </a:solidFill>
                <a:latin typeface="Arial"/>
              </a:rPr>
              <a:t>underneath them: what makes an AI startup defensible, why the biggest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C6C5BA"/>
                </a:solidFill>
                <a:latin typeface="Arial"/>
              </a:rPr>
              <a:t>companies stay private, and whether "two winners per category" is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8">
                <a:solidFill>
                  <a:srgbClr val="4BB488"/>
                </a:solidFill>
                <a:latin typeface="Consolas"/>
              </a:rPr>
              <a:t>Segments 01 . 03 . 04</a:t>
            </a:r>
            <a:r>
              <a:rPr sz="1200" b="0" spc="4">
                <a:solidFill>
                  <a:srgbClr val="8F9084"/>
                </a:solidFill>
                <a:latin typeface="Consolas"/>
              </a:rPr>
              <a:t>      Prepared July 17, 2026      Every figure sourced to PitchBook Premium or named press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THE RUNDOWN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6F6EE"/>
                </a:solidFill>
                <a:latin typeface="Arial"/>
              </a:rPr>
              <a:t>Three corrections to how the market talks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77440"/>
            <a:ext cx="3520440" cy="310896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4BB488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6F6EE"/>
                </a:solidFill>
                <a:latin typeface="Arial"/>
              </a:rPr>
              <a:t>Durability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6052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C6C5BA"/>
                </a:solidFill>
                <a:latin typeface="Arial"/>
              </a:rPr>
              <a:t>Defensibility is measurable, and the exit predictor already keeps a history you can chart. The IA40's churn is the signal.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3" y="2377440"/>
            <a:ext cx="3520440" cy="310896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3" y="2697480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3D8BE8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3" y="361188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6F6EE"/>
                </a:solidFill>
                <a:latin typeface="Arial"/>
              </a:rPr>
              <a:t>AI IPOs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3" y="416052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C6C5BA"/>
                </a:solidFill>
                <a:latin typeface="Arial"/>
              </a:rPr>
              <a:t>Not a drought, a backlog. 945 unicorns worth $5.3T are sitting private because capital is cheap and one listing now dwarfs a decade.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7" y="2377440"/>
            <a:ext cx="3520440" cy="310896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7" y="2697480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E0643A"/>
                </a:solidFill>
                <a:latin typeface="Aria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7" y="361188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6F6EE"/>
                </a:solidFill>
                <a:latin typeface="Arial"/>
              </a:rPr>
              <a:t>The Duopoly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7" y="416052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C6C5BA"/>
                </a:solidFill>
                <a:latin typeface="Arial"/>
              </a:rPr>
              <a:t>It is winner-take-most, miscounted. Count the business, not the round, and the second name usually disappears.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8F9084"/>
                </a:solidFill>
                <a:latin typeface="Consolas"/>
              </a:rPr>
              <a:t>Segment 02 (market structure) is out of scope for this brief.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960120" cy="384048"/>
          </a:xfrm>
          <a:prstGeom prst="roundRect">
            <a:avLst/>
          </a:prstGeom>
          <a:noFill/>
          <a:ln w="15875">
            <a:solidFill>
              <a:srgbClr val="4BB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4BB488"/>
                </a:solidFill>
                <a:latin typeface="Consolas"/>
              </a:rPr>
              <a:t>SEG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WHAT DOES THE DATA SHOW ON DURABILITY?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6F6EE"/>
                </a:solidFill>
                <a:latin typeface="Arial"/>
              </a:rPr>
              <a:t>Defensibility is measurable,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4BB488"/>
                </a:solidFill>
                <a:latin typeface="Arial"/>
              </a:rPr>
              <a:t>and the tool already has a memory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SEG 01 . THE EXIT PREDICTOR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6F6EE"/>
                </a:solidFill>
                <a:latin typeface="Arial"/>
              </a:rPr>
              <a:t>Does PitchBook's exit predictor keep history? Yes.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6C5BA"/>
                </a:solidFill>
                <a:latin typeface="Arial"/>
              </a:rPr>
              <a:t>Every scored company carries a Historical Predictions chart: success, IPO and M&amp;A probability tracked over time, with financing rounds overlaid. The compelling angle is on the 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08960"/>
            <a:ext cx="2103120" cy="228600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17556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4">
                <a:solidFill>
                  <a:srgbClr val="8F9084"/>
                </a:solidFill>
                <a:latin typeface="Consolas"/>
              </a:rPr>
              <a:t>EXIT PREDICTOR KEEPS HISTORY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175564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49C46E"/>
                </a:solidFill>
                <a:latin typeface="Arial"/>
              </a:rPr>
              <a:t>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92040"/>
            <a:ext cx="17556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C6C5BA"/>
                </a:solidFill>
                <a:latin typeface="Arial"/>
              </a:rPr>
              <a:t>Per-company time series on every profile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61488" y="3108960"/>
            <a:ext cx="2103120" cy="228600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3337560"/>
            <a:ext cx="17556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4">
                <a:solidFill>
                  <a:srgbClr val="8F9084"/>
                </a:solidFill>
                <a:latin typeface="Consolas"/>
              </a:rPr>
              <a:t>SUCCESS VS NO-EXIT 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088" y="4160520"/>
            <a:ext cx="175564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F6F6EE"/>
                </a:solidFill>
                <a:latin typeface="Arial"/>
              </a:rPr>
              <a:t>71%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4892040"/>
            <a:ext cx="17556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C6C5BA"/>
                </a:solidFill>
                <a:latin typeface="Arial"/>
              </a:rPr>
              <a:t>Out-of-sample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336" y="3108960"/>
            <a:ext cx="2103120" cy="228600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02936" y="3337560"/>
            <a:ext cx="17556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4">
                <a:solidFill>
                  <a:srgbClr val="8F9084"/>
                </a:solidFill>
                <a:latin typeface="Consolas"/>
              </a:rPr>
              <a:t>M&amp;A VS IPO ACCURACY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2936" y="4160520"/>
            <a:ext cx="175564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F6F6EE"/>
                </a:solidFill>
                <a:latin typeface="Arial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2936" y="4892040"/>
            <a:ext cx="17556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C6C5BA"/>
                </a:solidFill>
                <a:latin typeface="Arial"/>
              </a:rPr>
              <a:t>Given a successful exit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87183" y="3108960"/>
            <a:ext cx="2103120" cy="228600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15783" y="3337560"/>
            <a:ext cx="17556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4">
                <a:solidFill>
                  <a:srgbClr val="8F9084"/>
                </a:solidFill>
                <a:latin typeface="Consolas"/>
              </a:rPr>
              <a:t>IA40 TURNOVER PER YEAR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5783" y="4160520"/>
            <a:ext cx="175564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F6F6EE"/>
                </a:solidFill>
                <a:latin typeface="Arial"/>
              </a:rPr>
              <a:t>~50%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5783" y="4892040"/>
            <a:ext cx="17556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C6C5BA"/>
                </a:solidFill>
                <a:latin typeface="Arial"/>
              </a:rPr>
              <a:t>27 first-time winners in 2025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00032" y="3108960"/>
            <a:ext cx="2103120" cy="228600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8632" y="3337560"/>
            <a:ext cx="17556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4">
                <a:solidFill>
                  <a:srgbClr val="8F9084"/>
                </a:solidFill>
                <a:latin typeface="Consolas"/>
              </a:rPr>
              <a:t>NAMES ON ALL FIVE IA40 LISTS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8632" y="4160520"/>
            <a:ext cx="175564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4BB488"/>
                </a:solidFill>
                <a:latin typeface="Arial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4892040"/>
            <a:ext cx="17556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C6C5BA"/>
                </a:solidFill>
                <a:latin typeface="Arial"/>
              </a:rPr>
              <a:t>Databricks,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8F9084"/>
                </a:solidFill>
                <a:latin typeface="Consolas"/>
              </a:rPr>
              <a:t>Caveat: the productized time series is per-company. A vertical-wide trend is a cohort pull, not a built-in 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SEG 01 . FIG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6F6EE"/>
                </a:solidFill>
                <a:latin typeface="Arial"/>
              </a:rPr>
              <a:t>IA40 staying power is rare: churn is the durability signal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79" y="1965960"/>
            <a:ext cx="7680960" cy="384048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a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44949"/>
            <a:ext cx="7406640" cy="24825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75320" y="2286000"/>
            <a:ext cx="33832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F6F6EE"/>
                </a:solidFill>
                <a:latin typeface="Arial"/>
              </a:rPr>
              <a:t>2025 was the fifth annual list.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C6C5BA"/>
                </a:solidFill>
                <a:latin typeface="Arial"/>
              </a:rPr>
              <a:t>Roughly half the cohort is replaced every year. Of the four names that made all four lists through 2024, only Databricks carried into 2025, the sole five-time winner.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>
                <a:solidFill>
                  <a:srgbClr val="C6C5BA"/>
                </a:solidFill>
                <a:latin typeface="Arial"/>
              </a:rPr>
              <a:t/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6FCA9F"/>
                </a:solidFill>
                <a:latin typeface="Arial"/>
              </a:rPr>
              <a:t>Application-layer names rotate out; the infrastructure layer compounds.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8F9084"/>
                </a:solidFill>
                <a:latin typeface="Consolas"/>
              </a:rPr>
              <a:t>Source: Madrona / PitchBook IA40 (ia40.com), 2025 edition. Methodology uses the VC Exit Predictor Opportunity Score as an input.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SEG 01 . FIG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6F6EE"/>
                </a:solidFill>
                <a:latin typeface="Arial"/>
              </a:rPr>
              <a:t>The last mile, priced in dollars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79" y="1828800"/>
            <a:ext cx="6858000" cy="256032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41364"/>
            <a:ext cx="6583680" cy="15351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52628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C6C5BA"/>
                </a:solidFill>
                <a:latin typeface="Arial"/>
              </a:rPr>
              <a:t>Q1 2025 set a record for AI/ML venture at $73.6B across 1,603 deals. Vertical apps were ~60% of the deals but under a third of the capital: many small bets. A vertical model costs ~$3M to $10M to build; a horizontal LLM costs hundreds of millions.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965960"/>
            <a:ext cx="4114800" cy="1828800"/>
          </a:xfrm>
          <a:prstGeom prst="roundRect">
            <a:avLst/>
          </a:prstGeom>
          <a:solidFill>
            <a:srgbClr val="1A1C11"/>
          </a:solidFill>
          <a:ln w="15875">
            <a:solidFill>
              <a:srgbClr val="E869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212140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">
                <a:solidFill>
                  <a:srgbClr val="E8695D"/>
                </a:solidFill>
                <a:latin typeface="Consolas"/>
              </a:rPr>
              <a:t>SHORT LAST MILE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450592"/>
            <a:ext cx="374903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6C5BA"/>
                </a:solidFill>
                <a:latin typeface="Arial"/>
              </a:rPr>
              <a:t>Absorbed by the frontier: little between the model and the outcome. </a:t>
            </a:r>
            <a:r>
              <a:rPr sz="1250" b="1">
                <a:solidFill>
                  <a:srgbClr val="F6F6EE"/>
                </a:solidFill>
                <a:latin typeface="Arial"/>
              </a:rPr>
              <a:t>Copy, images, coding assistants, first-pass drafts.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3931920"/>
            <a:ext cx="4114800" cy="1965960"/>
          </a:xfrm>
          <a:prstGeom prst="roundRect">
            <a:avLst/>
          </a:prstGeom>
          <a:solidFill>
            <a:srgbClr val="1A1C11"/>
          </a:solidFill>
          <a:ln w="15875">
            <a:solidFill>
              <a:srgbClr val="4BB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408736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">
                <a:solidFill>
                  <a:srgbClr val="4BB488"/>
                </a:solidFill>
                <a:latin typeface="Consolas"/>
              </a:rPr>
              <a:t>LONG LAST MILE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4416552"/>
            <a:ext cx="374903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6C5BA"/>
                </a:solidFill>
                <a:latin typeface="Arial"/>
              </a:rPr>
              <a:t>Regulation and liability sit between model and outcome. </a:t>
            </a:r>
            <a:r>
              <a:rPr sz="1250" b="1">
                <a:solidFill>
                  <a:srgbClr val="F6F6EE"/>
                </a:solidFill>
                <a:latin typeface="Arial"/>
              </a:rPr>
              <a:t>Tax filing, audit-ready accounting, licensed healthcare. Owning liability is insurance pricing.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8F9084"/>
                </a:solidFill>
                <a:latin typeface="Consolas"/>
              </a:rPr>
              <a:t>Source: PitchBook Q1 2025 AI &amp; ML VC Trends; framework: N. Bobba, Better Tomorrow Ventures (Feb 2026), not Madrona / Sabrina Wu.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960120" cy="384048"/>
          </a:xfrm>
          <a:prstGeom prst="roundRect">
            <a:avLst/>
          </a:prstGeom>
          <a:noFill/>
          <a:ln w="15875">
            <a:solidFill>
              <a:srgbClr val="4BB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4BB488"/>
                </a:solidFill>
                <a:latin typeface="Consolas"/>
              </a:rPr>
              <a:t>SEG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STATE OF AI IPOs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11155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6F6EE"/>
                </a:solidFill>
                <a:latin typeface="Arial"/>
              </a:rPr>
              <a:t>The drought is a mirage.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3D8BE8"/>
                </a:solidFill>
                <a:latin typeface="Arial"/>
              </a:rPr>
              <a:t>The value is real, it is just private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SEG 03 . THE PRIVATE BACKLOG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6F6EE"/>
                </a:solidFill>
                <a:latin typeface="Arial"/>
              </a:rPr>
              <a:t>There is no shortage of exit-scale companies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2103120" cy="233172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60320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spc="3">
                <a:solidFill>
                  <a:srgbClr val="8F9084"/>
                </a:solidFill>
                <a:latin typeface="Consolas"/>
              </a:rPr>
              <a:t>ACTIVE US UNICORNS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456432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6F6EE"/>
                </a:solidFill>
                <a:latin typeface="Arial"/>
              </a:rPr>
              <a:t>945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14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C6C5BA"/>
                </a:solidFill>
                <a:latin typeface="Arial"/>
              </a:rPr>
              <a:t>Record, Q2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1488" y="2331720"/>
            <a:ext cx="2103120" cy="233172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2560320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spc="3">
                <a:solidFill>
                  <a:srgbClr val="8F9084"/>
                </a:solidFill>
                <a:latin typeface="Consolas"/>
              </a:rPr>
              <a:t>AGGREGATE UNICORN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3456432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6F6EE"/>
                </a:solidFill>
                <a:latin typeface="Arial"/>
              </a:rPr>
              <a:t>$5.3T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2656" y="4114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C6C5BA"/>
                </a:solidFill>
                <a:latin typeface="Arial"/>
              </a:rPr>
              <a:t>+9.4% vs year-end 2025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2331720"/>
            <a:ext cx="2103120" cy="233172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75503" y="2560320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spc="3">
                <a:solidFill>
                  <a:srgbClr val="8F9084"/>
                </a:solidFill>
                <a:latin typeface="Consolas"/>
              </a:rPr>
              <a:t>HELD BY SPACEX, OPENAI, ANTHROPIC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5503" y="3456432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6F6EE"/>
                </a:solidFill>
                <a:latin typeface="Arial"/>
              </a:rPr>
              <a:t>&gt;25%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3" y="4114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C6C5BA"/>
                </a:solidFill>
                <a:latin typeface="Arial"/>
              </a:rPr>
              <a:t>Three names, a quarter of the herd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87183" y="2331720"/>
            <a:ext cx="2103120" cy="233172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88352" y="2560320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spc="3">
                <a:solidFill>
                  <a:srgbClr val="8F9084"/>
                </a:solidFill>
                <a:latin typeface="Consolas"/>
              </a:rPr>
              <a:t>2025 UNICORN IPOs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3456432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8695D"/>
                </a:solidFill>
                <a:latin typeface="Arial"/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4114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C6C5BA"/>
                </a:solidFill>
                <a:latin typeface="Arial"/>
              </a:rPr>
              <a:t>14 priced below their mark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00032" y="2331720"/>
            <a:ext cx="2103120" cy="233172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0" y="2560320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spc="3">
                <a:solidFill>
                  <a:srgbClr val="8F9084"/>
                </a:solidFill>
                <a:latin typeface="Consolas"/>
              </a:rPr>
              <a:t>LP CASH OUT &gt; CASH 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456432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6F6EE"/>
                </a:solidFill>
                <a:latin typeface="Arial"/>
              </a:rPr>
              <a:t>4 yrs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114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C6C5BA"/>
                </a:solidFill>
                <a:latin typeface="Arial"/>
              </a:rPr>
              <a:t>Distributions have trailed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6C5BA"/>
                </a:solidFill>
                <a:latin typeface="Arial"/>
              </a:rPr>
              <a:t>The backlog is a liquidity choice, not an absence of exits. Mega-rounds plus secondary markets (annualized ~$112B in Q1 2026) let companies stay private while an IPO is telegraphed. ~30% of unicorns are AI-native or AI-adjacent.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SEG 03 . FIG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6F6EE"/>
                </a:solidFill>
                <a:latin typeface="Arial"/>
              </a:rPr>
              <a:t>One listing versus a decade of the asset class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79" y="1920240"/>
            <a:ext cx="7589520" cy="347472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pac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1781"/>
            <a:ext cx="7315200" cy="21916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2286000"/>
            <a:ext cx="34747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F6F6EE"/>
                </a:solidFill>
                <a:latin typeface="Arial"/>
              </a:rPr>
              <a:t>SpaceX priced at a $1.78T valuation and closed day one near $2.1T.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C6C5BA"/>
                </a:solidFill>
                <a:latin typeface="Arial"/>
              </a:rPr>
              <a:t>That single number exceeds the combined value of every US venture-backed public listing since 2016.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>
                <a:solidFill>
                  <a:srgbClr val="C6C5BA"/>
                </a:solidFill>
                <a:latin typeface="Arial"/>
              </a:rPr>
              <a:t/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6FCA9F"/>
                </a:solidFill>
                <a:latin typeface="Arial"/>
              </a:rPr>
              <a:t>"IPO drought" is the wrong frame: the pipe is holding a few objects too large to move.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235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8F9084"/>
                </a:solidFill>
                <a:latin typeface="Consolas"/>
              </a:rPr>
              <a:t>Source: PitchBook Q2 2026 Venture Monitor; CNBC Jun 12 2026. The looser "half of every tech IPO since the internet" claim is not sourceable; this is the verifiable version.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SEG 03 . FIG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6F6EE"/>
                </a:solidFill>
                <a:latin typeface="Arial"/>
              </a:rPr>
              <a:t>Databricks: a $47M to $188B climb, still private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79" y="1920240"/>
            <a:ext cx="7589520" cy="365760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b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18576"/>
            <a:ext cx="7315200" cy="2660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2286000"/>
            <a:ext cx="35204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550" b="1">
                <a:solidFill>
                  <a:srgbClr val="E0A94B"/>
                </a:solidFill>
                <a:latin typeface="Arial"/>
              </a:rPr>
              <a:t>NEW: $188B strategic round.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C6C5BA"/>
                </a:solidFill>
                <a:latin typeface="Arial"/>
              </a:rPr>
              <a:t>Term sheet signed July 16 2026, led by Coatue, expected to close this summer, up from the $134B Series L (Feb 2026).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>
                <a:solidFill>
                  <a:srgbClr val="C6C5BA"/>
                </a:solidFill>
                <a:latin typeface="Arial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F6F6EE"/>
                </a:solidFill>
                <a:latin typeface="Arial"/>
              </a:rPr>
              <a:t>Why raise at this scale? Private capital is cheap and CEO Ali Ghodsi called 2026 "a terrible year to go public." The company never needed the exit.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8F9084"/>
                </a:solidFill>
                <a:latin typeface="Consolas"/>
              </a:rPr>
              <a:t>Source: Databricks newsroom &amp; Bloomberg, Jul 16-17 2026 ($188B term sheet); PitchBook Premium financing records (entity 59199-40). $134B is the last closed round.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SEG 03 . FIG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6F6EE"/>
                </a:solidFill>
                <a:latin typeface="Arial"/>
              </a:rPr>
              <a:t>Anthropic: the revenue the IPO is timed around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79" y="1920240"/>
            <a:ext cx="7589520" cy="365760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1485"/>
            <a:ext cx="7315200" cy="2595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2286000"/>
            <a:ext cx="35204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550" b="1">
                <a:solidFill>
                  <a:srgbClr val="F6F6EE"/>
                </a:solidFill>
                <a:latin typeface="Arial"/>
              </a:rPr>
              <a:t>$87M to ~$47B run-rate in 17 months,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C6C5BA"/>
                </a:solidFill>
                <a:latin typeface="Arial"/>
              </a:rPr>
              <a:t>overtaking OpenAI on ARR in April 2026. Now $965B (Series H), filed confidentially in June for an expected October listing.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>
                <a:solidFill>
                  <a:srgbClr val="C6C5BA"/>
                </a:solidFill>
                <a:latin typeface="Arial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6FCA9F"/>
                </a:solidFill>
                <a:latin typeface="Arial"/>
              </a:rPr>
              <a:t>The risk is the narrative, not demand: an enterprise shift away from "token maxing," plus export-control uncertainty on chips.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8F9084"/>
                </a:solidFill>
                <a:latin typeface="Consolas"/>
              </a:rPr>
              <a:t>Source: PitchBook Premium; TechCrunch / VentureBeat / CNBC, Jan 2024 to May 2026. Run-rate figures annualized.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960120" cy="384048"/>
          </a:xfrm>
          <a:prstGeom prst="roundRect">
            <a:avLst/>
          </a:prstGeom>
          <a:noFill/>
          <a:ln w="15875">
            <a:solidFill>
              <a:srgbClr val="4BB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4BB488"/>
                </a:solidFill>
                <a:latin typeface="Consolas"/>
              </a:rPr>
              <a:t>SEG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THE IDEA: TWO WINNERS IN EVERY CATEGORY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11338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6F6EE"/>
                </a:solidFill>
                <a:latin typeface="Arial"/>
              </a:rPr>
              <a:t>It is not a duopoly.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E0643A"/>
                </a:solidFill>
                <a:latin typeface="Arial"/>
              </a:rPr>
              <a:t>It is winner-take-most, miscounted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SEG 04 . FIG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70432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6F6EE"/>
                </a:solidFill>
                <a:latin typeface="Arial"/>
              </a:rPr>
              <a:t>The #1-to-#2 valuation ratio across 16 AI verticals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645920"/>
            <a:ext cx="7772400" cy="484632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71966"/>
            <a:ext cx="7498079" cy="339422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0" y="2011680"/>
            <a:ext cx="34747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6F6EE"/>
                </a:solidFill>
                <a:latin typeface="Arial"/>
              </a:rPr>
              <a:t>A true duopoly sits near 1x.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6C5BA"/>
                </a:solidFill>
                <a:latin typeface="Arial"/>
              </a:rPr>
              <a:t>Only formal math and foundation models qualify (green).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00" b="0">
                <a:solidFill>
                  <a:srgbClr val="C6C5BA"/>
                </a:solidFill>
                <a:latin typeface="Arial"/>
              </a:rPr>
              <a:t/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6F6EE"/>
                </a:solidFill>
                <a:latin typeface="Arial"/>
              </a:rPr>
              <a:t>Of 16 verticals: 2 near-parity, 5 above 10x, and 3 more where the #2 has no venture mark at 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00" b="0">
                <a:solidFill>
                  <a:srgbClr val="C6C5BA"/>
                </a:solidFill>
                <a:latin typeface="Arial"/>
              </a:rPr>
              <a:t/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FCA9F"/>
                </a:solidFill>
                <a:latin typeface="Arial"/>
              </a:rPr>
              <a:t>The modal outcome is not a split. It is one company many times larger than whatever sits in second.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59893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F9084"/>
                </a:solidFill>
                <a:latin typeface="Consolas"/>
              </a:rPr>
              <a:t>Voice AI uses ElevenLabs' $11B priced mark; the rumored $22B secondary reads as 61x.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SEG 04 . FIG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6F6EE"/>
                </a:solidFill>
                <a:latin typeface="Arial"/>
              </a:rPr>
              <a:t>The biggest round is not the biggest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79" y="1874520"/>
            <a:ext cx="7040880" cy="4023359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2218"/>
            <a:ext cx="6766560" cy="24079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0" y="2194560"/>
            <a:ext cx="411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6C5BA"/>
                </a:solidFill>
                <a:latin typeface="Consolas"/>
              </a:rPr>
              <a:t>Blue: valuation.  Green: disclosed revenue.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6F6EE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6F6EE"/>
                </a:solidFill>
                <a:latin typeface="Arial"/>
              </a:rPr>
              <a:t>Surge out-earns Scale with zero venture funding. Otter out-earns Granola on disclosed revenue. Midjourney does ~$500M and has no valuation to plot.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6F6EE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FCA9F"/>
                </a:solidFill>
                <a:latin typeface="Arial"/>
              </a:rPr>
              <a:t>Frame winners by round size and you miss the best unit economics in the category.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436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8F9084"/>
                </a:solidFill>
                <a:latin typeface="Consolas"/>
              </a:rPr>
              <a:t>Source: PitchBook Premium. Scale ~$1B rev / $29B val; Surge ~$1.4B rev, no VC; Otter ~$0.1B rev / $94M val; Granola $1.5B val, rev undisclosed.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SEG 04 . FIG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6F6EE"/>
                </a:solidFill>
                <a:latin typeface="Arial"/>
              </a:rPr>
              <a:t>Who manufactures the "2": the same funds sit on both sides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79" y="1828800"/>
            <a:ext cx="7223759" cy="411480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08307"/>
            <a:ext cx="6949440" cy="255578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21945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4BB488"/>
                </a:solidFill>
                <a:latin typeface="Arial"/>
              </a:rPr>
              <a:t>●</a:t>
            </a:r>
            <a:r>
              <a:rPr sz="1250" b="0">
                <a:solidFill>
                  <a:srgbClr val="C6C5BA"/>
                </a:solidFill>
                <a:latin typeface="Consolas"/>
              </a:rPr>
              <a:t>  Backs the #1        </a:t>
            </a:r>
            <a:r>
              <a:rPr sz="1400" b="1">
                <a:solidFill>
                  <a:srgbClr val="E0A94B"/>
                </a:solidFill>
                <a:latin typeface="Arial"/>
              </a:rPr>
              <a:t>○</a:t>
            </a:r>
            <a:r>
              <a:rPr sz="1250" b="0">
                <a:solidFill>
                  <a:srgbClr val="C6C5BA"/>
                </a:solidFill>
                <a:latin typeface="Consolas"/>
              </a:rPr>
              <a:t>  Backs the 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34640"/>
            <a:ext cx="3977639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6F6EE"/>
                </a:solidFill>
                <a:latin typeface="Arial"/>
              </a:rPr>
              <a:t>a16z holds both #1 and #2 in legal (Harvey + Legora) and health scribes (Abridge + Ambience).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>
                <a:solidFill>
                  <a:srgbClr val="F6F6EE"/>
                </a:solidFill>
                <a:latin typeface="Arial"/>
              </a:rPr>
              <a:t/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C6C5BA"/>
                </a:solidFill>
                <a:latin typeface="Arial"/>
              </a:rPr>
              <a:t>Concentration is not only at the company level. The same handful of crossover funds capitalizes both seats, a hedge that manufactures a "2" rather than picking a winner.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436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8F9084"/>
                </a:solidFill>
                <a:latin typeface="Consolas"/>
              </a:rPr>
              <a:t>Source: PitchBook Premium investor records. Sequoia backs Harvey but not Legora; Kleiner backs Harvey and Harmonic but not Cerebras.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SEG 04 . AT THE FRONTIER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6F6EE"/>
                </a:solidFill>
                <a:latin typeface="Arial"/>
              </a:rPr>
              <a:t>The two-name story breaks at the top too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94560"/>
            <a:ext cx="5394960" cy="320040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6">
                <a:solidFill>
                  <a:srgbClr val="E0A94B"/>
                </a:solidFill>
                <a:latin typeface="Consolas"/>
              </a:rPr>
              <a:t>THE VALUATION-QUALITY PARADOX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4BB488"/>
                </a:solidFill>
                <a:latin typeface="Arial"/>
              </a:rPr>
              <a:t>Databricks</a:t>
            </a:r>
            <a:r>
              <a:rPr sz="1800" b="1">
                <a:solidFill>
                  <a:srgbClr val="C6C5BA"/>
                </a:solidFill>
                <a:latin typeface="Arial"/>
              </a:rPr>
              <a:t>  AIBQ 8.7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C6C5BA"/>
                </a:solidFill>
                <a:latin typeface="Arial"/>
              </a:rPr>
              <a:t>Tops the Frontier Five, only member with positive free cash flow.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343400"/>
            <a:ext cx="4754880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52628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695D"/>
                </a:solidFill>
                <a:latin typeface="Arial"/>
              </a:rPr>
              <a:t>OpenAI</a:t>
            </a:r>
            <a:r>
              <a:rPr sz="1800" b="1">
                <a:solidFill>
                  <a:srgbClr val="C6C5BA"/>
                </a:solidFill>
                <a:latin typeface="Arial"/>
              </a:rPr>
              <a:t>  AIBQ 4.8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C6C5BA"/>
                </a:solidFill>
                <a:latin typeface="Arial"/>
              </a:rPr>
              <a:t>Highest profile, lowest business-quality score.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286000"/>
            <a:ext cx="5486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6F6EE"/>
                </a:solidFill>
                <a:latin typeface="Arial"/>
              </a:rPr>
              <a:t>"Anthropic vs OpenAI" reads as a clean 1.1x duopoly ($965B vs $852B).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>
                <a:solidFill>
                  <a:srgbClr val="F6F6EE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C6C5BA"/>
                </a:solidFill>
                <a:latin typeface="Arial"/>
              </a:rPr>
              <a:t>But PitchBook's Frontier Five note counts five, not two, and the highest-valued names score lowest on quality. And xAI is not a standalone third: it is $250B folded inside a ~$2.4T SpaceX.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>
                <a:solidFill>
                  <a:srgbClr val="F6F6EE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6FCA9F"/>
                </a:solidFill>
                <a:latin typeface="Arial"/>
              </a:rPr>
              <a:t>The two-name story does not survive contact with the cap tables.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6F6EE"/>
                </a:solidFill>
                <a:latin typeface="Consolas"/>
              </a:rPr>
              <a:t>PitchBook</a:t>
            </a:r>
            <a:r>
              <a:rPr sz="1300" b="0">
                <a:solidFill>
                  <a:srgbClr val="8F9084"/>
                </a:solidFill>
                <a:latin typeface="Consolas"/>
              </a:rPr>
              <a:t>  x  </a:t>
            </a:r>
            <a:r>
              <a:rPr sz="1300" b="1">
                <a:solidFill>
                  <a:srgbClr val="F6F6EE"/>
                </a:solidFill>
                <a:latin typeface="Consolas"/>
              </a:rPr>
              <a:t>Madrona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18288"/>
          </a:xfrm>
          <a:prstGeom prst="rect">
            <a:avLst/>
          </a:prstGeom>
          <a:solidFill>
            <a:srgbClr val="333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spc="6">
                <a:solidFill>
                  <a:srgbClr val="8F9084"/>
                </a:solidFill>
                <a:latin typeface="Consolas"/>
              </a:rPr>
              <a:t>PitchBook x Madrona  /  Live fireside  /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BB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972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22">
                <a:solidFill>
                  <a:srgbClr val="4BB488"/>
                </a:solidFill>
                <a:latin typeface="Consolas"/>
              </a:rPr>
              <a:t>THE THROUGH-LINE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6F6EE"/>
                </a:solidFill>
                <a:latin typeface="Arial"/>
              </a:rPr>
              <a:t>Count the business,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4BB488"/>
                </a:solidFill>
                <a:latin typeface="Arial"/>
              </a:rPr>
              <a:t>not the round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94760"/>
            <a:ext cx="3566160" cy="192024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6F6EE"/>
                </a:solidFill>
                <a:latin typeface="Arial"/>
              </a:rPr>
              <a:t>Durability is measurable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9204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6C5BA"/>
                </a:solidFill>
                <a:latin typeface="Arial"/>
              </a:rPr>
              <a:t>and has a history you can chart. It moved up the stack from the model to the workflow.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794760"/>
            <a:ext cx="3566160" cy="192024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40233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6F6EE"/>
                </a:solidFill>
                <a:latin typeface="Arial"/>
              </a:rPr>
              <a:t>The IPO drought is a 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89204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6C5BA"/>
                </a:solidFill>
                <a:latin typeface="Arial"/>
              </a:rPr>
              <a:t>not an absence of exit-scale companies. The value is private, and enormous.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59" y="3794760"/>
            <a:ext cx="3566160" cy="1920240"/>
          </a:xfrm>
          <a:prstGeom prst="roundRect">
            <a:avLst/>
          </a:prstGeom>
          <a:solidFill>
            <a:srgbClr val="1A1C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0233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6F6EE"/>
                </a:solidFill>
                <a:latin typeface="Arial"/>
              </a:rPr>
              <a:t>The "duopoly" is winner-take-most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89204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6C5BA"/>
                </a:solidFill>
                <a:latin typeface="Arial"/>
              </a:rPr>
              <a:t>with a nominal second place that funding data overstates.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F9084"/>
                </a:solidFill>
                <a:latin typeface="Consolas"/>
              </a:rPr>
              <a:t>Sources: PitchBook Premium (financing, investors, VC Exit Predictor, Venture Monitor, Frontier Five); Madrona/PitchBook IA40; company disclosures; CNBC, Bloomberg, TechCrunch. Figures verified July 17,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