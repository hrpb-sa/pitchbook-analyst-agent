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11535" y="5577840"/>
            <a:ext cx="2560320" cy="2560320"/>
          </a:xfrm>
          <a:prstGeom prst="ellipse">
            <a:avLst/>
          </a:prstGeom>
          <a:noFill/>
          <a:ln w="15875">
            <a:solidFill>
              <a:srgbClr val="2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80015" y="4846320"/>
            <a:ext cx="4023360" cy="4023360"/>
          </a:xfrm>
          <a:prstGeom prst="ellipse">
            <a:avLst/>
          </a:prstGeom>
          <a:noFill/>
          <a:ln w="15875">
            <a:solidFill>
              <a:srgbClr val="2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noFill/>
          <a:ln w="15875">
            <a:solidFill>
              <a:srgbClr val="2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16975" y="3383280"/>
            <a:ext cx="6949440" cy="6949440"/>
          </a:xfrm>
          <a:prstGeom prst="ellipse">
            <a:avLst/>
          </a:prstGeom>
          <a:noFill/>
          <a:ln w="15875">
            <a:solidFill>
              <a:srgbClr val="2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PitchBook</a:t>
            </a:r>
            <a:r>
              <a:rPr sz="1500" b="0">
                <a:solidFill>
                  <a:srgbClr val="8AA0C4"/>
                </a:solidFill>
                <a:latin typeface="Arial"/>
              </a:rPr>
              <a:t>  x  </a:t>
            </a:r>
            <a:r>
              <a:rPr sz="1500" b="1">
                <a:solidFill>
                  <a:srgbClr val="FFFFFF"/>
                </a:solidFill>
                <a:latin typeface="Arial"/>
              </a:rPr>
              <a:t>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48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spc="16">
                <a:solidFill>
                  <a:srgbClr val="F4B23E"/>
                </a:solidFill>
                <a:latin typeface="Consolas"/>
              </a:rPr>
              <a:t>LIVE</a:t>
            </a:r>
            <a:r>
              <a:rPr sz="1050" b="0" spc="16">
                <a:solidFill>
                  <a:srgbClr val="8AA0C4"/>
                </a:solidFill>
                <a:latin typeface="Consolas"/>
              </a:rPr>
              <a:t>  PODCAST RECORDING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48840"/>
            <a:ext cx="9509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Durability, IPOs,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>
                <a:solidFill>
                  <a:srgbClr val="F4C65A"/>
                </a:solidFill>
                <a:latin typeface="Arial"/>
              </a:rPr>
              <a:t>and the Duopoly Myth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3977639"/>
            <a:ext cx="1920240" cy="41148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206240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7DEEA"/>
                </a:solidFill>
                <a:latin typeface="Arial"/>
              </a:rPr>
              <a:t>A late-stage private-company research brief: what makes an AI startup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7DEEA"/>
                </a:solidFill>
                <a:latin typeface="Arial"/>
              </a:rPr>
              <a:t>defensible, why the biggest companies stay private, and whether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7DEEA"/>
                </a:solidFill>
                <a:latin typeface="Arial"/>
              </a:rPr>
              <a:t>"two winners per category" is a real pattern or a counting 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6">
                <a:solidFill>
                  <a:srgbClr val="F4B23E"/>
                </a:solidFill>
                <a:latin typeface="Consolas"/>
              </a:rPr>
              <a:t>Segments 01 . 03 . 04</a:t>
            </a:r>
            <a:r>
              <a:rPr sz="1200" b="0" spc="3">
                <a:solidFill>
                  <a:srgbClr val="8AA0C4"/>
                </a:solidFill>
                <a:latin typeface="Consolas"/>
              </a:rPr>
              <a:t>      Prepared July 17, 2026      Sources: PitchBook Premium and named press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THE RUNDOWN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43584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52A4D"/>
                </a:solidFill>
                <a:latin typeface="Arial"/>
              </a:rPr>
              <a:t>Three corrections to how the market talks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31720"/>
            <a:ext cx="35204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3520440" cy="109728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6517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52A4D"/>
                </a:solidFill>
                <a:latin typeface="Arial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204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52A4D"/>
                </a:solidFill>
                <a:latin typeface="Arial"/>
              </a:rPr>
              <a:t>Durability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11480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8546E"/>
                </a:solidFill>
                <a:latin typeface="Arial"/>
              </a:rPr>
              <a:t>Defensibility is measurable, and the exit predictor already keeps a history you can chart. The IA40's churn is the signal.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3" y="2331720"/>
            <a:ext cx="35204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1103" y="2331720"/>
            <a:ext cx="3520440" cy="109728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26517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52A4D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35204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52A4D"/>
                </a:solidFill>
                <a:latin typeface="Arial"/>
              </a:rPr>
              <a:t>AI IPOs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411480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8546E"/>
                </a:solidFill>
                <a:latin typeface="Arial"/>
              </a:rPr>
              <a:t>Not a drought, a backlog. 945 unicorns worth $5.3T sit private because capital is cheap and one listing now dwarfs a decade.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7" y="2331720"/>
            <a:ext cx="35204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7" y="2331720"/>
            <a:ext cx="3520440" cy="109728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3" y="26517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52A4D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3" y="35204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52A4D"/>
                </a:solidFill>
                <a:latin typeface="Arial"/>
              </a:rPr>
              <a:t>The Duopoly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3" y="411480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8546E"/>
                </a:solidFill>
                <a:latin typeface="Arial"/>
              </a:rPr>
              <a:t>It is winner-take-most, miscounted. Count the business, not the round, and the second name usually disappears.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8676"/>
                </a:solidFill>
                <a:latin typeface="Arial"/>
              </a:rPr>
              <a:t>Segment 02 (market structure) is out of scope for this brief.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960120" cy="384048"/>
          </a:xfrm>
          <a:prstGeom prst="roundRect">
            <a:avLst/>
          </a:prstGeom>
          <a:solidFill>
            <a:srgbClr val="15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2A413"/>
                </a:solidFill>
                <a:latin typeface="Consolas"/>
              </a:rPr>
              <a:t>SEG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101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WHAT DOES THE DATA SHOW ON DURABILITY?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52A4D"/>
                </a:solidFill>
                <a:latin typeface="Arial"/>
              </a:rPr>
              <a:t>Defensibility is measurable, and the tool has a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01 . THE EXIT PREDICTOR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2A4D"/>
                </a:solidFill>
                <a:latin typeface="Arial"/>
              </a:rPr>
              <a:t>Does PitchBook's exit predictor keep history? Yes.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8546E"/>
                </a:solidFill>
                <a:latin typeface="Arial"/>
              </a:rPr>
              <a:t>Every scored company carries a Historical Predictions chart: success, IPO and M&amp;A probability tracked over time, with financing rounds overlaid. The compelling angle is on the 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17556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spc="2">
                <a:solidFill>
                  <a:srgbClr val="8B8676"/>
                </a:solidFill>
                <a:latin typeface="Arial"/>
              </a:rPr>
              <a:t>EXIT PREDICTOR KEEPS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A7A3C"/>
                </a:solidFill>
                <a:latin typeface="Arial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546E"/>
                </a:solidFill>
                <a:latin typeface="Arial"/>
              </a:rPr>
              <a:t>Per-company time series on every profile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310896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0088" y="3337560"/>
            <a:ext cx="17556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spc="2">
                <a:solidFill>
                  <a:srgbClr val="8B8676"/>
                </a:solidFill>
                <a:latin typeface="Arial"/>
              </a:rPr>
              <a:t>SUCCESS VS NO-EXIT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416052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52A4D"/>
                </a:solidFill>
                <a:latin typeface="Arial"/>
              </a:rPr>
              <a:t>71%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8" y="4892040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546E"/>
                </a:solidFill>
                <a:latin typeface="Arial"/>
              </a:rPr>
              <a:t>Out-of-sample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74336" y="310896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2936" y="3337560"/>
            <a:ext cx="17556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spc="2">
                <a:solidFill>
                  <a:srgbClr val="8B8676"/>
                </a:solidFill>
                <a:latin typeface="Arial"/>
              </a:rPr>
              <a:t>M&amp;A VS IPO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416052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52A4D"/>
                </a:solidFill>
                <a:latin typeface="Arial"/>
              </a:rPr>
              <a:t>94%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936" y="4892040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546E"/>
                </a:solidFill>
                <a:latin typeface="Arial"/>
              </a:rPr>
              <a:t>Given a successful exit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87183" y="310896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5783" y="3337560"/>
            <a:ext cx="17556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spc="2">
                <a:solidFill>
                  <a:srgbClr val="8B8676"/>
                </a:solidFill>
                <a:latin typeface="Arial"/>
              </a:rPr>
              <a:t>IA40 TURNOVER PER 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5783" y="416052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52A4D"/>
                </a:solidFill>
                <a:latin typeface="Arial"/>
              </a:rPr>
              <a:t>~50%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3" y="4892040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546E"/>
                </a:solidFill>
                <a:latin typeface="Arial"/>
              </a:rPr>
              <a:t>27 first-time winners in 2025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00032" y="310896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28632" y="3337560"/>
            <a:ext cx="17556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spc="2">
                <a:solidFill>
                  <a:srgbClr val="8B8676"/>
                </a:solidFill>
                <a:latin typeface="Arial"/>
              </a:rPr>
              <a:t>NAMES ON ALL FIVE IA40 LISTS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4160520"/>
            <a:ext cx="1755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E2A413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4892040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546E"/>
                </a:solidFill>
                <a:latin typeface="Arial"/>
              </a:rPr>
              <a:t>Databricks,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5778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8676"/>
                </a:solidFill>
                <a:latin typeface="Arial"/>
              </a:rPr>
              <a:t>Caveat: the productized time series is per-company. A vertical-wide trend is a cohort pull, not a built-in 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01 . FIG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2A4D"/>
                </a:solidFill>
                <a:latin typeface="Arial"/>
              </a:rPr>
              <a:t>IA40 staying power is rare: churn is the durability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79" y="1965960"/>
            <a:ext cx="76809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a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44949"/>
            <a:ext cx="7406640" cy="24825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75320" y="2286000"/>
            <a:ext cx="33832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52A4D"/>
                </a:solidFill>
                <a:latin typeface="Arial"/>
              </a:rPr>
              <a:t>2025 was the fifth annual list.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48546E"/>
                </a:solidFill>
                <a:latin typeface="Arial"/>
              </a:rPr>
              <a:t>Roughly half the cohort is replaced every year. Of the four names that made all four lists through 2024, only Databricks carried into 2025, the sole five-time winner.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52A4D"/>
                </a:solidFill>
                <a:latin typeface="Arial"/>
              </a:rPr>
              <a:t>Application-layer names rotate out; the infrastructure layer compounds.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8676"/>
                </a:solidFill>
                <a:latin typeface="Arial"/>
              </a:rPr>
              <a:t>Source: Madrona / PitchBook IA40 (ia40.com), 2025 edition. Methodology uses the VC Exit Predictor Opportunity Score as an input.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01 . FIG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2A4D"/>
                </a:solidFill>
                <a:latin typeface="Arial"/>
              </a:rPr>
              <a:t>The last mile, priced in dollars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79" y="1828800"/>
            <a:ext cx="68580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41364"/>
            <a:ext cx="6583680" cy="15351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452628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8546E"/>
                </a:solidFill>
                <a:latin typeface="Arial"/>
              </a:rPr>
              <a:t>Q1 2025 set a record for AI/ML venture at $73.6B across 1,603 deals. Vertical apps were ~60% of the deals but under a third of the capital: many small bets. A vertical model costs ~$3M to $10M to build; a horizontal LLM costs hundreds of millions.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965960"/>
            <a:ext cx="411480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3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12140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spc="10">
                <a:solidFill>
                  <a:srgbClr val="C0392F"/>
                </a:solidFill>
                <a:latin typeface="Consolas"/>
              </a:rPr>
              <a:t>SHORT LAST MILE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450592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8546E"/>
                </a:solidFill>
                <a:latin typeface="Arial"/>
              </a:rPr>
              <a:t>Absorbed by the frontier: little between the model and the outcome. </a:t>
            </a:r>
            <a:r>
              <a:rPr sz="1250" b="1">
                <a:solidFill>
                  <a:srgbClr val="152A4D"/>
                </a:solidFill>
                <a:latin typeface="Arial"/>
              </a:rPr>
              <a:t>Copy, images, coding assistants, first-pass drafts.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931920"/>
            <a:ext cx="4114800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A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408736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spc="10">
                <a:solidFill>
                  <a:srgbClr val="1A7A3C"/>
                </a:solidFill>
                <a:latin typeface="Consolas"/>
              </a:rPr>
              <a:t>LONG LAST MILE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416552"/>
            <a:ext cx="37490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8546E"/>
                </a:solidFill>
                <a:latin typeface="Arial"/>
              </a:rPr>
              <a:t>Regulation and liability sit between model and outcome. </a:t>
            </a:r>
            <a:r>
              <a:rPr sz="1250" b="1">
                <a:solidFill>
                  <a:srgbClr val="152A4D"/>
                </a:solidFill>
                <a:latin typeface="Arial"/>
              </a:rPr>
              <a:t>Tax filing, audit-ready accounting, licensed healthcare. Owning liability is insurance pricing.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8676"/>
                </a:solidFill>
                <a:latin typeface="Arial"/>
              </a:rPr>
              <a:t>Source: PitchBook Q1 2025 AI &amp; ML VC Trends; framework: N. Bobba, Better Tomorrow Ventures (Feb 2026), not Madrona / Sabrina Wu.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960120" cy="384048"/>
          </a:xfrm>
          <a:prstGeom prst="roundRect">
            <a:avLst/>
          </a:prstGeom>
          <a:solidFill>
            <a:srgbClr val="15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2A413"/>
                </a:solidFill>
                <a:latin typeface="Consolas"/>
              </a:rPr>
              <a:t>SEG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101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STATE OF AI IPOs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52A4D"/>
                </a:solidFill>
                <a:latin typeface="Arial"/>
              </a:rPr>
              <a:t>The drought is a mirage. The value is real, just private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03 . THE PRIVATE BACKLOG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52A4D"/>
                </a:solidFill>
                <a:latin typeface="Arial"/>
              </a:rPr>
              <a:t>There is no shortage of exit-scale companies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31720"/>
            <a:ext cx="2103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2">
                <a:solidFill>
                  <a:srgbClr val="8B8676"/>
                </a:solidFill>
                <a:latin typeface="Arial"/>
              </a:rPr>
              <a:t>ACTIVE US UNICORNS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456432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52A4D"/>
                </a:solidFill>
                <a:latin typeface="Arial"/>
              </a:rPr>
              <a:t>945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1148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546E"/>
                </a:solidFill>
                <a:latin typeface="Arial"/>
              </a:rPr>
              <a:t>Record, Q2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1488" y="2331720"/>
            <a:ext cx="2103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62656" y="2560320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2">
                <a:solidFill>
                  <a:srgbClr val="8B8676"/>
                </a:solidFill>
                <a:latin typeface="Arial"/>
              </a:rPr>
              <a:t>AGGREGATE UNICORN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456432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52A4D"/>
                </a:solidFill>
                <a:latin typeface="Arial"/>
              </a:rPr>
              <a:t>$5.3T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2656" y="41148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546E"/>
                </a:solidFill>
                <a:latin typeface="Arial"/>
              </a:rPr>
              <a:t>+9.4% vs year-end 2025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74336" y="2331720"/>
            <a:ext cx="2103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5503" y="2560320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2">
                <a:solidFill>
                  <a:srgbClr val="8B8676"/>
                </a:solidFill>
                <a:latin typeface="Arial"/>
              </a:rPr>
              <a:t>HELD BY SPACEX, OPENAI, ANTHROPIC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3" y="3456432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52A4D"/>
                </a:solidFill>
                <a:latin typeface="Arial"/>
              </a:rPr>
              <a:t>&gt;25%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3" y="41148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546E"/>
                </a:solidFill>
                <a:latin typeface="Arial"/>
              </a:rPr>
              <a:t>Three names, a quarter of the herd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87183" y="2331720"/>
            <a:ext cx="2103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2560320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2">
                <a:solidFill>
                  <a:srgbClr val="8B8676"/>
                </a:solidFill>
                <a:latin typeface="Arial"/>
              </a:rPr>
              <a:t>2025 UNICORN IPOs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3456432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C0392F"/>
                </a:solidFill>
                <a:latin typeface="Arial"/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41148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546E"/>
                </a:solidFill>
                <a:latin typeface="Arial"/>
              </a:rPr>
              <a:t>14 priced below their mark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00032" y="2331720"/>
            <a:ext cx="2103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560320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2">
                <a:solidFill>
                  <a:srgbClr val="8B8676"/>
                </a:solidFill>
                <a:latin typeface="Arial"/>
              </a:rPr>
              <a:t>LP CASH OUT &gt; CASH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456432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52A4D"/>
                </a:solidFill>
                <a:latin typeface="Arial"/>
              </a:rPr>
              <a:t>4 yrs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1148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8546E"/>
                </a:solidFill>
                <a:latin typeface="Arial"/>
              </a:rPr>
              <a:t>Distributions have trailed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8546E"/>
                </a:solidFill>
                <a:latin typeface="Arial"/>
              </a:rPr>
              <a:t>The backlog is a liquidity choice, not an absence of exits. Mega-rounds plus secondary markets (annualized ~$112B in Q1 2026) let companies stay private while an IPO is telegraphed. ~30% of unicorns are AI-native or AI-adjacent.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03 . FIG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2A4D"/>
                </a:solidFill>
                <a:latin typeface="Arial"/>
              </a:rPr>
              <a:t>One listing versus a decade of the asset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79" y="1920240"/>
            <a:ext cx="7589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c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1781"/>
            <a:ext cx="7315200" cy="21916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2286000"/>
            <a:ext cx="34747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52A4D"/>
                </a:solidFill>
                <a:latin typeface="Arial"/>
              </a:rPr>
              <a:t>SpaceX priced at a $1.78T valuation and closed day one near $2.1T.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48546E"/>
                </a:solidFill>
                <a:latin typeface="Arial"/>
              </a:rPr>
              <a:t>That single number exceeds the combined value of every US venture-backed public listing since 2016.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52A4D"/>
                </a:solidFill>
                <a:latin typeface="Arial"/>
              </a:rPr>
              <a:t>"IPO drought" is the wrong frame: the pipe is holding a few objects too large to move.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8676"/>
                </a:solidFill>
                <a:latin typeface="Arial"/>
              </a:rPr>
              <a:t>Source: PitchBook Q2 2026 Venture Monitor; CNBC Jun 12 2026. The looser "half of every tech IPO since the internet" claim is not sourceable; this is the verifiable version.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03 . FIG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2A4D"/>
                </a:solidFill>
                <a:latin typeface="Arial"/>
              </a:rPr>
              <a:t>Databricks: a $47M to $188B climb, still private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79" y="1920240"/>
            <a:ext cx="75895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b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18576"/>
            <a:ext cx="7315200" cy="2660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2286000"/>
            <a:ext cx="3520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B5820C"/>
                </a:solidFill>
                <a:latin typeface="Arial"/>
              </a:rPr>
              <a:t>NEW: $188B strategic round.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48546E"/>
                </a:solidFill>
                <a:latin typeface="Arial"/>
              </a:rPr>
              <a:t>Term sheet signed July 16 2026, led by Coatue, expected to close this summer, up from the $134B Series L (Feb 2026).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52A4D"/>
                </a:solidFill>
                <a:latin typeface="Arial"/>
              </a:rPr>
              <a:t>Why raise at this scale? Private capital is cheap and CEO Ali Ghodsi called 2026 "a terrible year to go public." The company never needed the exit.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8676"/>
                </a:solidFill>
                <a:latin typeface="Arial"/>
              </a:rPr>
              <a:t>Source: Databricks newsroom &amp; Bloomberg, Jul 16-17 2026 ($188B term sheet); PitchBook Premium financing records (entity 59199-40). $134B is the last closed round.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03 . FIG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2A4D"/>
                </a:solidFill>
                <a:latin typeface="Arial"/>
              </a:rPr>
              <a:t>Anthropic: the revenue the IPO is timed around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79" y="1920240"/>
            <a:ext cx="75895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51485"/>
            <a:ext cx="7315200" cy="25951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2286000"/>
            <a:ext cx="3520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152A4D"/>
                </a:solidFill>
                <a:latin typeface="Arial"/>
              </a:rPr>
              <a:t>$87M to ~$47B run-rate in 17 months,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48546E"/>
                </a:solidFill>
                <a:latin typeface="Arial"/>
              </a:rPr>
              <a:t>overtaking OpenAI on ARR in April 2026. Now $965B (Series H), filed confidentially in June for an expected October listing.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52A4D"/>
                </a:solidFill>
                <a:latin typeface="Arial"/>
              </a:rPr>
              <a:t>The risk is the narrative, not demand: an enterprise shift away from "token maxing," plus export-control uncertainty on chips.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8676"/>
                </a:solidFill>
                <a:latin typeface="Arial"/>
              </a:rPr>
              <a:t>Source: PitchBook Premium; TechCrunch / VentureBeat / CNBC, Jan 2024 to May 2026. Run-rate figures annualized.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960120" cy="384048"/>
          </a:xfrm>
          <a:prstGeom prst="roundRect">
            <a:avLst/>
          </a:prstGeom>
          <a:solidFill>
            <a:srgbClr val="15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2A413"/>
                </a:solidFill>
                <a:latin typeface="Consolas"/>
              </a:rPr>
              <a:t>SEG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101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THE IDEA: TWO WINNERS IN EVERY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1338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52A4D"/>
                </a:solidFill>
                <a:latin typeface="Arial"/>
              </a:rPr>
              <a:t>It is not a duopoly. It is winner-take-most, miscounted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04 . FIG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70432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52A4D"/>
                </a:solidFill>
                <a:latin typeface="Arial"/>
              </a:rPr>
              <a:t>The #1-to-#2 valuation ratio across 16 AI verticals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45920"/>
            <a:ext cx="7772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75827"/>
            <a:ext cx="7498079" cy="33865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011680"/>
            <a:ext cx="34747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52A4D"/>
                </a:solidFill>
                <a:latin typeface="Arial"/>
              </a:rPr>
              <a:t>A true duopoly sits near 1x.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48546E"/>
                </a:solidFill>
                <a:latin typeface="Arial"/>
              </a:rPr>
              <a:t>Only formal math and foundation models qualify (green).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52A4D"/>
                </a:solidFill>
                <a:latin typeface="Arial"/>
              </a:rPr>
              <a:t>Of 16 verticals: 2 near-parity, 6 above 10x, and 3 more where the #2 has no venture mark at all.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48546E"/>
                </a:solidFill>
                <a:latin typeface="Arial"/>
              </a:rPr>
              <a:t>The modal outcome is not a split. It is one company many times larger than whatever sits in second.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9893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Voice AI shown at ElevenLabs' pending $22B secondary (61x); the last priced mark, $11B, reads as 30x.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229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04 . THE FULL MAP  (1 of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15568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52A4D"/>
                </a:solidFill>
                <a:latin typeface="Arial"/>
              </a:rPr>
              <a:t>Every #1 and #2, named: near-parity to blowout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10835640" cy="365760"/>
          </a:xfrm>
          <a:prstGeom prst="rect">
            <a:avLst/>
          </a:prstGeom>
          <a:solidFill>
            <a:srgbClr val="15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783080"/>
            <a:ext cx="176479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3">
                <a:solidFill>
                  <a:srgbClr val="F2D79A"/>
                </a:solidFill>
                <a:latin typeface="Arial"/>
              </a:rPr>
              <a:t>VERTICAL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1783080"/>
            <a:ext cx="2404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3">
                <a:solidFill>
                  <a:srgbClr val="F2D79A"/>
                </a:solidFill>
                <a:latin typeface="Arial"/>
              </a:rPr>
              <a:t>#1  (valuation, date)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1783080"/>
            <a:ext cx="22677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3">
                <a:solidFill>
                  <a:srgbClr val="F2D79A"/>
                </a:solidFill>
                <a:latin typeface="Arial"/>
              </a:rPr>
              <a:t>#2  (valuation, date)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1783080"/>
            <a:ext cx="7132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3">
                <a:solidFill>
                  <a:srgbClr val="F2D79A"/>
                </a:solidFill>
                <a:latin typeface="Arial"/>
              </a:rPr>
              <a:t>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783080"/>
            <a:ext cx="313639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3">
                <a:solidFill>
                  <a:srgbClr val="F2D79A"/>
                </a:solidFill>
                <a:latin typeface="Arial"/>
              </a:rPr>
              <a:t>PATTERN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48840"/>
            <a:ext cx="10835640" cy="384047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532888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148840"/>
            <a:ext cx="170992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Foundation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8" y="2148840"/>
            <a:ext cx="235000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Anthropic  $965B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2148840"/>
            <a:ext cx="221284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OpenAI  $852B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2148840"/>
            <a:ext cx="65836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7A3C"/>
                </a:solidFill>
                <a:latin typeface="Arial"/>
              </a:rPr>
              <a:t>1.1x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148840"/>
            <a:ext cx="3081527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Near parity; xAI ~$1.76T inside SpaceX breaks the top-2 frame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16936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532888"/>
            <a:ext cx="170992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Formal math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2888" y="2532888"/>
            <a:ext cx="235000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Axiom  $1.6B  3/26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2532888"/>
            <a:ext cx="221284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Harmonic  $1.45B  11/25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7" y="2532888"/>
            <a:ext cx="65836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7A3C"/>
                </a:solidFill>
                <a:latin typeface="Arial"/>
              </a:rPr>
              <a:t>1.1x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2532888"/>
            <a:ext cx="3081527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Genuine dead-heat duopoly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916936"/>
            <a:ext cx="10835640" cy="384047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300984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916936"/>
            <a:ext cx="170992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Legal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32888" y="2916936"/>
            <a:ext cx="235000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Harvey  $11B  3/26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2916936"/>
            <a:ext cx="221284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Legora  $5.6B  4/26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4927" y="2916936"/>
            <a:ext cx="65836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2A4D"/>
                </a:solidFill>
                <a:latin typeface="Arial"/>
              </a:rPr>
              <a:t>2.0x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2916936"/>
            <a:ext cx="3081527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Clean hierarchy; real exit, Robin AI to Microsoft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685031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3300984"/>
            <a:ext cx="170992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AI inference chips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32888" y="3300984"/>
            <a:ext cx="235000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Cerebras  $40.6B IPO  5/26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7488" y="3300984"/>
            <a:ext cx="221284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Groq  $20B (to Nvidia)  12/25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4927" y="3300984"/>
            <a:ext cx="65836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2A4D"/>
                </a:solidFill>
                <a:latin typeface="Arial"/>
              </a:rPr>
              <a:t>2.0x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3300984"/>
            <a:ext cx="3081527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Real dual exits: one IPO, one M&amp;A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685031"/>
            <a:ext cx="10835640" cy="384047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069079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685031"/>
            <a:ext cx="170992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AI coding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32888" y="3685031"/>
            <a:ext cx="235000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Cursor  $60B (to SpaceX)  6/26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47488" y="3685031"/>
            <a:ext cx="221284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Cognition  $26B  5/26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4927" y="3685031"/>
            <a:ext cx="65836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2A4D"/>
                </a:solidFill>
                <a:latin typeface="Arial"/>
              </a:rPr>
              <a:t>2.3x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3685031"/>
            <a:ext cx="3081527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Clean hierarchy; real $60B exit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453127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4069079"/>
            <a:ext cx="170992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Defense 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32888" y="4069079"/>
            <a:ext cx="235000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Anduril  $61B ($4.3B rev)  5/26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47488" y="4069079"/>
            <a:ext cx="221284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Helsing  $18B  5/26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24927" y="4069079"/>
            <a:ext cx="65836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2A4D"/>
                </a:solidFill>
                <a:latin typeface="Arial"/>
              </a:rPr>
              <a:t>3.4x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7888" y="4069079"/>
            <a:ext cx="3081527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Real duopoly, but geographic: US vs EU sovereign-tech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453127"/>
            <a:ext cx="10835640" cy="384047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" y="4837175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4453127"/>
            <a:ext cx="170992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Customer support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32888" y="4453127"/>
            <a:ext cx="235000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Sierra  $15.8B  5/26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7488" y="4453127"/>
            <a:ext cx="221284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Decagon  $4.5B  1/26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24927" y="4453127"/>
            <a:ext cx="65836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2A4D"/>
                </a:solidFill>
                <a:latin typeface="Arial"/>
              </a:rPr>
              <a:t>3.5x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47888" y="4453127"/>
            <a:ext cx="3081527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Clear leader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5221223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" y="4837175"/>
            <a:ext cx="170992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Healthcare scribes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32888" y="4837175"/>
            <a:ext cx="235000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Abridge  $5.3B  6/25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47488" y="4837175"/>
            <a:ext cx="221284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Ambience  $1.25B  7/25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24927" y="4837175"/>
            <a:ext cx="65836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2A4D"/>
                </a:solidFill>
                <a:latin typeface="Arial"/>
              </a:rPr>
              <a:t>4.2x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47888" y="4837175"/>
            <a:ext cx="3081527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Clear leader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5221223"/>
            <a:ext cx="10835640" cy="384047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48640" y="5605271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" y="5221223"/>
            <a:ext cx="170992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AI recruiting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32888" y="5221223"/>
            <a:ext cx="235000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Mercor  $10B  10/25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47488" y="5221223"/>
            <a:ext cx="221284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Eightfold  $2.1B  2021 (stale)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4927" y="5221223"/>
            <a:ext cx="65836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2A4D"/>
                </a:solidFill>
                <a:latin typeface="Arial"/>
              </a:rPr>
              <a:t>4.8x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47888" y="5221223"/>
            <a:ext cx="3081527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LLM-native disruptor eclipsing pre-genAI incumbent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5989319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" y="5605271"/>
            <a:ext cx="170992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Humanoid robotics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32888" y="5605271"/>
            <a:ext cx="235000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Figure  $39B  5/25 (stale)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47488" y="5605271"/>
            <a:ext cx="221284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Physical Intelligence  $5.4B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24927" y="5605271"/>
            <a:ext cx="658368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2A4D"/>
                </a:solidFill>
                <a:latin typeface="Arial"/>
              </a:rPr>
              <a:t>7.2x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47888" y="5605271"/>
            <a:ext cx="3081527" cy="384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Clear leader; ~$11B PI round pending would be 3.5x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229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04 . THE FULL MAP  (2 of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15568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52A4D"/>
                </a:solidFill>
                <a:latin typeface="Arial"/>
              </a:rPr>
              <a:t>Every #1 and #2, named: the blowouts and the invisibles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10835640" cy="365760"/>
          </a:xfrm>
          <a:prstGeom prst="rect">
            <a:avLst/>
          </a:prstGeom>
          <a:solidFill>
            <a:srgbClr val="15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783080"/>
            <a:ext cx="176479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3">
                <a:solidFill>
                  <a:srgbClr val="F2D79A"/>
                </a:solidFill>
                <a:latin typeface="Arial"/>
              </a:rPr>
              <a:t>VERTICAL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1783080"/>
            <a:ext cx="2404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3">
                <a:solidFill>
                  <a:srgbClr val="F2D79A"/>
                </a:solidFill>
                <a:latin typeface="Arial"/>
              </a:rPr>
              <a:t>#1  (valuation, date)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1783080"/>
            <a:ext cx="22677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3">
                <a:solidFill>
                  <a:srgbClr val="F2D79A"/>
                </a:solidFill>
                <a:latin typeface="Arial"/>
              </a:rPr>
              <a:t>#2  (valuation, date)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1783080"/>
            <a:ext cx="7132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3">
                <a:solidFill>
                  <a:srgbClr val="F2D79A"/>
                </a:solidFill>
                <a:latin typeface="Arial"/>
              </a:rPr>
              <a:t>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783080"/>
            <a:ext cx="313639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spc="3">
                <a:solidFill>
                  <a:srgbClr val="F2D79A"/>
                </a:solidFill>
                <a:latin typeface="Arial"/>
              </a:rPr>
              <a:t>PATTERN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48840"/>
            <a:ext cx="10835640" cy="426719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575560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148840"/>
            <a:ext cx="170992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AI web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8" y="2148840"/>
            <a:ext cx="235000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Perplexity  $20B  9/25-5/26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2148840"/>
            <a:ext cx="221284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Exa  $2.2B  5/26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2148840"/>
            <a:ext cx="65836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2A4D"/>
                </a:solidFill>
                <a:latin typeface="Arial"/>
              </a:rPr>
              <a:t>9.1x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148840"/>
            <a:ext cx="3081527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False duopoly: agent-search infra vs consumer answers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002280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575560"/>
            <a:ext cx="170992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Enterprise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2888" y="2575560"/>
            <a:ext cx="235000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Glean  $7.2B  11/25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2575560"/>
            <a:ext cx="221284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Hebbia  $700M  10/24 (stale)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7" y="2575560"/>
            <a:ext cx="65836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392F"/>
                </a:solidFill>
                <a:latin typeface="Arial"/>
              </a:rPr>
              <a:t>10.3x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2575560"/>
            <a:ext cx="3081527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Blowout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002280"/>
            <a:ext cx="10835640" cy="426719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429000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002280"/>
            <a:ext cx="170992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Video 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32888" y="3002280"/>
            <a:ext cx="235000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Runway  $5.3B  2/26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3002280"/>
            <a:ext cx="221284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Pika  $470M  7/24 (stale)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4927" y="3002280"/>
            <a:ext cx="65836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392F"/>
                </a:solidFill>
                <a:latin typeface="Arial"/>
              </a:rPr>
              <a:t>11x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3002280"/>
            <a:ext cx="3081527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Blowout; also Sora, Veo, not a 2-name story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855720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3429000"/>
            <a:ext cx="170992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Meeting notetakers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32888" y="3429000"/>
            <a:ext cx="235000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Granola  $1.5B  3/26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7488" y="3429000"/>
            <a:ext cx="221284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Otter.ai  $94M  2021 (stale)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4927" y="3429000"/>
            <a:ext cx="65836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392F"/>
                </a:solidFill>
                <a:latin typeface="Arial"/>
              </a:rPr>
              <a:t>16x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3429000"/>
            <a:ext cx="3081527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Inverted on revenue: Otter discloses $100M TTM, Granola none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855720"/>
            <a:ext cx="10835640" cy="426719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282440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855720"/>
            <a:ext cx="170992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Sales / GTM 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32888" y="3855720"/>
            <a:ext cx="235000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Clay  $3B  6/25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47488" y="3855720"/>
            <a:ext cx="221284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Artisan  $150M  5/25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4927" y="3855720"/>
            <a:ext cx="65836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392F"/>
                </a:solidFill>
                <a:latin typeface="Arial"/>
              </a:rPr>
              <a:t>20x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3855720"/>
            <a:ext cx="3081527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Blowout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709160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4282440"/>
            <a:ext cx="170992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Voice 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32888" y="4282440"/>
            <a:ext cx="235000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ElevenLabs  $22B  7/26 (pending)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47488" y="4282440"/>
            <a:ext cx="221284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Cartesia  $362M  3/25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24927" y="4282440"/>
            <a:ext cx="65836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392F"/>
                </a:solidFill>
                <a:latin typeface="Arial"/>
              </a:rPr>
              <a:t>61x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7888" y="4282440"/>
            <a:ext cx="3081527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Blowout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709160"/>
            <a:ext cx="10835640" cy="426719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" y="5135880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4709160"/>
            <a:ext cx="170992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Image generation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32888" y="4709160"/>
            <a:ext cx="235000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Black Forest Labs  $3.1B  12/25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7488" y="4709160"/>
            <a:ext cx="221284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Midjourney  no VC, $500M rev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24927" y="4709160"/>
            <a:ext cx="65836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2A4D"/>
                </a:solidFill>
                <a:latin typeface="Arial"/>
              </a:rPr>
              <a:t>n/a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47888" y="4709160"/>
            <a:ext cx="3081527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Revenue leader invisible to funding-concentration data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5562600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" y="5135880"/>
            <a:ext cx="170992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Data labeling, RLHF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32888" y="5135880"/>
            <a:ext cx="235000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Scale AI  $29B  6/25 (Meta stake)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47488" y="5135880"/>
            <a:ext cx="221284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Surge AI  no VC, $1.4B rev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24927" y="5135880"/>
            <a:ext cx="65836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2A4D"/>
                </a:solidFill>
                <a:latin typeface="Arial"/>
              </a:rPr>
              <a:t>n/a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47888" y="5135880"/>
            <a:ext cx="3081527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Funding leader is not the revenue leader (Surge &gt; Scale)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5562600"/>
            <a:ext cx="10835640" cy="426719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48640" y="5989320"/>
            <a:ext cx="10835640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" y="5562600"/>
            <a:ext cx="170992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52A4D"/>
                </a:solidFill>
                <a:latin typeface="Arial"/>
              </a:rPr>
              <a:t>AI companion apps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32888" y="5562600"/>
            <a:ext cx="235000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Character.ai  $1B (frozen 8/24)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47488" y="5562600"/>
            <a:ext cx="221284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8546E"/>
                </a:solidFill>
                <a:latin typeface="Arial"/>
              </a:rPr>
              <a:t>Replika  $33M  2017 (frozen)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4927" y="5562600"/>
            <a:ext cx="658368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2A4D"/>
                </a:solidFill>
                <a:latin typeface="Arial"/>
              </a:rPr>
              <a:t>n/a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47888" y="5562600"/>
            <a:ext cx="3081527" cy="4267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48546E"/>
                </a:solidFill>
                <a:latin typeface="Arial"/>
              </a:rPr>
              <a:t>Category stagnation, not concentration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04 . FIG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2A4D"/>
                </a:solidFill>
                <a:latin typeface="Arial"/>
              </a:rPr>
              <a:t>The biggest round is not the biggest business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79" y="1874520"/>
            <a:ext cx="7040880" cy="40233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2218"/>
            <a:ext cx="6766560" cy="24079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89520" y="2194560"/>
            <a:ext cx="411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52A4D"/>
                </a:solidFill>
                <a:latin typeface="Arial"/>
              </a:rPr>
              <a:t>Blue: valuation.  Green: disclosed revenue.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48546E"/>
                </a:solidFill>
                <a:latin typeface="Arial"/>
              </a:rPr>
              <a:t>Surge out-earns Scale with zero venture funding. Otter out-earns Granola on disclosed revenue. Midjourney does ~$500M and has no valuation to plot.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52A4D"/>
                </a:solidFill>
                <a:latin typeface="Arial"/>
              </a:rPr>
              <a:t>Frame winners by round size and you miss the best unit economics in the category.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8676"/>
                </a:solidFill>
                <a:latin typeface="Arial"/>
              </a:rPr>
              <a:t>Source: PitchBook Premium. Scale ~$1B rev / $29B val; Surge ~$1.4B rev, no VC; Otter ~$0.1B rev / $94M val; Granola $1.5B val, rev undisclosed.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04 . FIG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52A4D"/>
                </a:solidFill>
                <a:latin typeface="Arial"/>
              </a:rPr>
              <a:t>Who manufactures the "2": the same funds sit on both sides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79" y="1828800"/>
            <a:ext cx="7223759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8307"/>
            <a:ext cx="6949440" cy="25557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0" y="219456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52A4D"/>
                </a:solidFill>
                <a:latin typeface="Arial"/>
              </a:rPr>
              <a:t>●</a:t>
            </a:r>
            <a:r>
              <a:rPr sz="1250" b="0">
                <a:solidFill>
                  <a:srgbClr val="48546E"/>
                </a:solidFill>
                <a:latin typeface="Arial"/>
              </a:rPr>
              <a:t>  Backs the #1        </a:t>
            </a:r>
            <a:r>
              <a:rPr sz="1400" b="1">
                <a:solidFill>
                  <a:srgbClr val="E2A413"/>
                </a:solidFill>
                <a:latin typeface="Arial"/>
              </a:rPr>
              <a:t>○</a:t>
            </a:r>
            <a:r>
              <a:rPr sz="1250" b="0">
                <a:solidFill>
                  <a:srgbClr val="48546E"/>
                </a:solidFill>
                <a:latin typeface="Arial"/>
              </a:rPr>
              <a:t>  Backs the 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834640"/>
            <a:ext cx="3977639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52A4D"/>
                </a:solidFill>
                <a:latin typeface="Arial"/>
              </a:rPr>
              <a:t>a16z holds both #1 and #2 in legal (Harvey + Legora) and health scribes (Abridge + Ambience).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48546E"/>
                </a:solidFill>
                <a:latin typeface="Arial"/>
              </a:rPr>
              <a:t>The same 10 to 15 crossover funds capitalize both seats, a hedge that manufactures a "2" rather than picking a winner.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8676"/>
                </a:solidFill>
                <a:latin typeface="Arial"/>
              </a:rPr>
              <a:t>Source: PitchBook Premium investor records. Sequoia backs Harvey but not Legora; Kleiner backs Harvey and Harmonic but not Cerebras.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04 . THE EXITS ARE ALREADY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2A4D"/>
                </a:solidFill>
                <a:latin typeface="Arial"/>
              </a:rPr>
              <a:t>Six real exits, and strategics paid up for the #1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48840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91440" cy="1600200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3134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2A4D"/>
                </a:solidFill>
                <a:latin typeface="Arial"/>
              </a:rPr>
              <a:t>Cursor → SpaceX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715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52A4D"/>
                </a:solidFill>
                <a:latin typeface="Arial"/>
              </a:rPr>
              <a:t>$60B</a:t>
            </a:r>
            <a:r>
              <a:rPr sz="1100" b="1" spc="4">
                <a:solidFill>
                  <a:srgbClr val="8B8676"/>
                </a:solidFill>
                <a:latin typeface="Consolas"/>
              </a:rPr>
              <a:t>   M&amp;A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136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546E"/>
                </a:solidFill>
                <a:latin typeface="Arial"/>
              </a:rPr>
              <a:t>Category leader in AI coding, bought at the 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3" y="2148840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1103" y="2148840"/>
            <a:ext cx="91440" cy="1600200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23134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2A4D"/>
                </a:solidFill>
                <a:latin typeface="Arial"/>
              </a:rPr>
              <a:t>Cerebras → Nasdaq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2715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52A4D"/>
                </a:solidFill>
                <a:latin typeface="Arial"/>
              </a:rPr>
              <a:t>$40.6B</a:t>
            </a:r>
            <a:r>
              <a:rPr sz="1100" b="1" spc="4">
                <a:solidFill>
                  <a:srgbClr val="8B8676"/>
                </a:solidFill>
                <a:latin typeface="Consolas"/>
              </a:rPr>
              <a:t>   IPO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3136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546E"/>
                </a:solidFill>
                <a:latin typeface="Arial"/>
              </a:rPr>
              <a:t>Profitable print (warrant-aided); AI inference chips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7" y="2148840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7" y="2148840"/>
            <a:ext cx="91440" cy="1600200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23134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2A4D"/>
                </a:solidFill>
                <a:latin typeface="Arial"/>
              </a:rPr>
              <a:t>Scale AI → Meta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2715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52A4D"/>
                </a:solidFill>
                <a:latin typeface="Arial"/>
              </a:rPr>
              <a:t>$29B*</a:t>
            </a:r>
            <a:r>
              <a:rPr sz="1100" b="1" spc="4">
                <a:solidFill>
                  <a:srgbClr val="8B8676"/>
                </a:solidFill>
                <a:latin typeface="Consolas"/>
              </a:rPr>
              <a:t>   Stake + CEO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3136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546E"/>
                </a:solidFill>
                <a:latin typeface="Arial"/>
              </a:rPr>
              <a:t>Effective absorption: large stake, CEO poached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77639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977639"/>
            <a:ext cx="91440" cy="1600200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14223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2A4D"/>
                </a:solidFill>
                <a:latin typeface="Arial"/>
              </a:rPr>
              <a:t>Groq → Nvidia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5445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52A4D"/>
                </a:solidFill>
                <a:latin typeface="Arial"/>
              </a:rPr>
              <a:t>$20B</a:t>
            </a:r>
            <a:r>
              <a:rPr sz="1100" b="1" spc="4">
                <a:solidFill>
                  <a:srgbClr val="8B8676"/>
                </a:solidFill>
                <a:latin typeface="Consolas"/>
              </a:rPr>
              <a:t>   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9651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546E"/>
                </a:solidFill>
                <a:latin typeface="Arial"/>
              </a:rPr>
              <a:t>Now an Nvidia subsidiary; still raising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1103" y="3977639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61103" y="3977639"/>
            <a:ext cx="91440" cy="1600200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7136" y="414223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2A4D"/>
                </a:solidFill>
                <a:latin typeface="Arial"/>
              </a:rPr>
              <a:t>Robin AI → Microsoft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45445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52A4D"/>
                </a:solidFill>
                <a:latin typeface="Arial"/>
              </a:rPr>
              <a:t>n/d</a:t>
            </a:r>
            <a:r>
              <a:rPr sz="1100" b="1" spc="4">
                <a:solidFill>
                  <a:srgbClr val="8B8676"/>
                </a:solidFill>
                <a:latin typeface="Consolas"/>
              </a:rPr>
              <a:t>   Acquihire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49651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546E"/>
                </a:solidFill>
                <a:latin typeface="Arial"/>
              </a:rPr>
              <a:t>The sub-scale "priced out" case, the counter-example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73567" y="3977639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3567" y="3977639"/>
            <a:ext cx="91440" cy="1600200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9" y="414223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52A4D"/>
                </a:solidFill>
                <a:latin typeface="Arial"/>
              </a:rPr>
              <a:t>Neeva → Snowflake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9" y="45445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52A4D"/>
                </a:solidFill>
                <a:latin typeface="Arial"/>
              </a:rPr>
              <a:t>n/d</a:t>
            </a:r>
            <a:r>
              <a:rPr sz="1100" b="1" spc="4">
                <a:solidFill>
                  <a:srgbClr val="8B8676"/>
                </a:solidFill>
                <a:latin typeface="Consolas"/>
              </a:rPr>
              <a:t>   M&amp;A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9" y="49651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8546E"/>
                </a:solidFill>
                <a:latin typeface="Arial"/>
              </a:rPr>
              <a:t>Search talent and tech folded into a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8676"/>
                </a:solidFill>
                <a:latin typeface="Arial"/>
              </a:rPr>
              <a:t>*Meta took a ~$14.3B stake and hired the CEO. Pattern: strategics buy the outright #1, not the struggling runner-up. The AI-vertical exit environment is live now, not five years out.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04 . BEFORE YOU CALL IT A DUOPOLY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2A4D"/>
                </a:solidFill>
                <a:latin typeface="Arial"/>
              </a:rPr>
              <a:t>When you see a "2", check which kind it 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35204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3520440" cy="109728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1460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3">
                <a:solidFill>
                  <a:srgbClr val="152A4D"/>
                </a:solidFill>
                <a:latin typeface="Consolas"/>
              </a:rPr>
              <a:t>GEOGRAPHIC, NOT COMPETITIVE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42900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8546E"/>
                </a:solidFill>
                <a:latin typeface="Arial"/>
              </a:rPr>
              <a:t>A US champion beside a non-US sovereign-tech champion serving different regulatory buyers. Defense: Anduril (US) vs Helsing (EU). Legal: Harvey (US) vs Legora (Stockholm). A 1 + 1, not a head-to-head 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3" y="2194560"/>
            <a:ext cx="35204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61103" y="2194560"/>
            <a:ext cx="3520440" cy="109728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3" y="251460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3">
                <a:solidFill>
                  <a:srgbClr val="152A4D"/>
                </a:solidFill>
                <a:latin typeface="Consolas"/>
              </a:rPr>
              <a:t>STAGNATION, NOT CONCENTRATION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3" y="342900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8546E"/>
                </a:solidFill>
                <a:latin typeface="Arial"/>
              </a:rPr>
              <a:t>AI companions: Character.ai frozen since its founders left for Google (Aug 2024), Replika since 2017. The real winners became features inside Grok and Meta AI. Some categories converge to zero investable names.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7" y="2194560"/>
            <a:ext cx="35204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7" y="2194560"/>
            <a:ext cx="3520440" cy="109728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251460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3">
                <a:solidFill>
                  <a:srgbClr val="152A4D"/>
                </a:solidFill>
                <a:latin typeface="Consolas"/>
              </a:rPr>
              <a:t>MANUFACTURED BY THE SAME CAPITAL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42900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8546E"/>
                </a:solidFill>
                <a:latin typeface="Arial"/>
              </a:rPr>
              <a:t>Sequoia, a16z, Kleiner, Founders Fund, Index, General Catalyst back both seats vertical after vertical. The "2" is often a deliberate hedge, not two independent winners.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692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2A4D"/>
                </a:solidFill>
                <a:latin typeface="Arial"/>
              </a:rPr>
              <a:t>The modal outcome is winner-take-most. Real two-way splits show up about one in ten; the other nine times it is a 10x-to-60x gap, or the biggest business never took venture money at all.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5943600"/>
            <a:ext cx="1828800" cy="182880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4663440"/>
            <a:ext cx="4389120" cy="4389120"/>
          </a:xfrm>
          <a:prstGeom prst="ellipse">
            <a:avLst/>
          </a:prstGeom>
          <a:noFill/>
          <a:ln w="15875">
            <a:solidFill>
              <a:srgbClr val="EFD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2A4D"/>
                </a:solidFill>
                <a:latin typeface="Arial"/>
              </a:rPr>
              <a:t>PitchBook</a:t>
            </a:r>
            <a:r>
              <a:rPr sz="1200" b="0">
                <a:solidFill>
                  <a:srgbClr val="8B8676"/>
                </a:solidFill>
                <a:latin typeface="Arial"/>
              </a:rPr>
              <a:t>  with Madrona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1672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PitchBook, a Morningstar company  .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105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B8676"/>
                </a:solidFill>
                <a:latin typeface="Arial"/>
              </a:rPr>
              <a:t>CONFIDENTIAL .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SEG 04 . AT THE FRONTIER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2A4D"/>
                </a:solidFill>
                <a:latin typeface="Arial"/>
              </a:rPr>
              <a:t>The two-name story breaks at the top too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53949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5">
                <a:solidFill>
                  <a:srgbClr val="B5820C"/>
                </a:solidFill>
                <a:latin typeface="Consolas"/>
              </a:rPr>
              <a:t>THE VALUATION-QUALITY PARADOX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2A4D"/>
                </a:solidFill>
                <a:latin typeface="Arial"/>
              </a:rPr>
              <a:t>Databricks</a:t>
            </a:r>
            <a:r>
              <a:rPr sz="1800" b="1">
                <a:solidFill>
                  <a:srgbClr val="48546E"/>
                </a:solidFill>
                <a:latin typeface="Arial"/>
              </a:rPr>
              <a:t>  AIBQ 8.7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8546E"/>
                </a:solidFill>
                <a:latin typeface="Arial"/>
              </a:rPr>
              <a:t>Tops the Frontier Five, only member with positive free cash flow.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343400"/>
            <a:ext cx="4754880" cy="12801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2628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0392F"/>
                </a:solidFill>
                <a:latin typeface="Arial"/>
              </a:rPr>
              <a:t>OpenAI</a:t>
            </a:r>
            <a:r>
              <a:rPr sz="1800" b="1">
                <a:solidFill>
                  <a:srgbClr val="48546E"/>
                </a:solidFill>
                <a:latin typeface="Arial"/>
              </a:rPr>
              <a:t>  AIBQ 4.8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12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8546E"/>
                </a:solidFill>
                <a:latin typeface="Arial"/>
              </a:rPr>
              <a:t>Highest profile, lowest business-quality 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5486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152A4D"/>
                </a:solidFill>
                <a:latin typeface="Arial"/>
              </a:rPr>
              <a:t>"Anthropic vs OpenAI" reads as a clean 1.1x duopoly ($965B vs $852B).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48546E"/>
                </a:solidFill>
                <a:latin typeface="Arial"/>
              </a:rPr>
              <a:t>But PitchBook's Frontier Five note counts five, not two, and the highest-valued names score lowest on quality. And xAI is not a standalone third: it is folded inside a ~$2.4T SpaceX.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52A4D"/>
                </a:solidFill>
                <a:latin typeface="Arial"/>
              </a:rPr>
              <a:t>The two-name story does not survive contact with the cap tables.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11535" y="5577840"/>
            <a:ext cx="2560320" cy="2560320"/>
          </a:xfrm>
          <a:prstGeom prst="ellipse">
            <a:avLst/>
          </a:prstGeom>
          <a:noFill/>
          <a:ln w="15875">
            <a:solidFill>
              <a:srgbClr val="2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80015" y="4846320"/>
            <a:ext cx="4023360" cy="4023360"/>
          </a:xfrm>
          <a:prstGeom prst="ellipse">
            <a:avLst/>
          </a:prstGeom>
          <a:noFill/>
          <a:ln w="15875">
            <a:solidFill>
              <a:srgbClr val="2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noFill/>
          <a:ln w="15875">
            <a:solidFill>
              <a:srgbClr val="2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16975" y="3383280"/>
            <a:ext cx="6949440" cy="6949440"/>
          </a:xfrm>
          <a:prstGeom prst="ellipse">
            <a:avLst/>
          </a:prstGeom>
          <a:noFill/>
          <a:ln w="15875">
            <a:solidFill>
              <a:srgbClr val="2A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PitchBook</a:t>
            </a:r>
            <a:r>
              <a:rPr sz="1300" b="0">
                <a:solidFill>
                  <a:srgbClr val="8AA0C4"/>
                </a:solidFill>
                <a:latin typeface="Arial"/>
              </a:rPr>
              <a:t>  with Madrona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1887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20">
                <a:solidFill>
                  <a:srgbClr val="E2A413"/>
                </a:solidFill>
                <a:latin typeface="Consolas"/>
              </a:rPr>
              <a:t>THE THROUGH-LINE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002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Count the business, not the 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3200400"/>
            <a:ext cx="1920240" cy="41148"/>
          </a:xfrm>
          <a:prstGeom prst="rect">
            <a:avLst/>
          </a:prstGeom>
          <a:solidFill>
            <a:srgbClr val="E2A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3794760"/>
            <a:ext cx="3520440" cy="1874519"/>
          </a:xfrm>
          <a:prstGeom prst="roundRect">
            <a:avLst/>
          </a:prstGeom>
          <a:solidFill>
            <a:srgbClr val="1B3057"/>
          </a:solidFill>
          <a:ln w="12700">
            <a:solidFill>
              <a:srgbClr val="2A4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041648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4C65A"/>
                </a:solidFill>
                <a:latin typeface="Arial"/>
              </a:rPr>
              <a:t>Durability is measurable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8920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7DEEA"/>
                </a:solidFill>
                <a:latin typeface="Arial"/>
              </a:rPr>
              <a:t>and has a history you can chart. It moved up the stack from the model to the workflow.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94760"/>
            <a:ext cx="3520440" cy="1874519"/>
          </a:xfrm>
          <a:prstGeom prst="roundRect">
            <a:avLst/>
          </a:prstGeom>
          <a:solidFill>
            <a:srgbClr val="1B3057"/>
          </a:solidFill>
          <a:ln w="12700">
            <a:solidFill>
              <a:srgbClr val="2A4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041648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4C65A"/>
                </a:solidFill>
                <a:latin typeface="Arial"/>
              </a:rPr>
              <a:t>The IPO drought is a choice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8920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7DEEA"/>
                </a:solidFill>
                <a:latin typeface="Arial"/>
              </a:rPr>
              <a:t>not an absence of exit-scale companies. The value is private, and enormous.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3794760"/>
            <a:ext cx="3520440" cy="1874519"/>
          </a:xfrm>
          <a:prstGeom prst="roundRect">
            <a:avLst/>
          </a:prstGeom>
          <a:solidFill>
            <a:srgbClr val="1B3057"/>
          </a:solidFill>
          <a:ln w="12700">
            <a:solidFill>
              <a:srgbClr val="2A4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4041648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4C65A"/>
                </a:solidFill>
                <a:latin typeface="Arial"/>
              </a:rPr>
              <a:t>The "duopoly" is winner-take-most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48920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7DEEA"/>
                </a:solidFill>
                <a:latin typeface="Arial"/>
              </a:rPr>
              <a:t>with a nominal second place that funding data overstates.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A0C4"/>
                </a:solidFill>
                <a:latin typeface="Arial"/>
              </a:rPr>
              <a:t>Sources: PitchBook Premium (financing, investors, VC Exit Predictor, Venture Monitor, Frontier Five); Madrona/PitchBook IA40; company disclosures; CNBC, Bloomberg, TechCrunch. Verified July 17,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